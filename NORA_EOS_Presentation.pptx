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NORA 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  <a:latin typeface="Segoe UI"/>
              </a:defRPr>
            </a:pPr>
            <a:r>
              <a:t>Enterprise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Segoe UI"/>
              </a:defRPr>
            </a:pPr>
            <a:r>
              <a:t>ECHO  •  HERA  •  ARGUS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is NORA EOS?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  <a:latin typeface="Segoe UI"/>
              </a:defRPr>
            </a:pPr>
            <a:r>
              <a:t>An AI-powered enterprise operating system built for modern teams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  <a:latin typeface="Segoe UI"/>
              </a:defRPr>
            </a:pPr>
            <a:r>
              <a:t>Three integrated modules that automate communication, project management, and performance tracking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  <a:latin typeface="Segoe UI"/>
              </a:defRPr>
            </a:pPr>
            <a:r>
              <a:t>Connects Gmail, Google Calendar, and internal task management into one intelligent layer</a:t>
            </a:r>
          </a:p>
          <a:p>
            <a:pPr>
              <a:spcAft>
                <a:spcPts val="800"/>
              </a:spcAft>
              <a:defRPr sz="1800">
                <a:solidFill>
                  <a:srgbClr val="E5E7EB"/>
                </a:solidFill>
                <a:latin typeface="Segoe UI"/>
              </a:defRPr>
            </a:pPr>
            <a:r>
              <a:t>Every module feeds data to the others — creating a closed-loop productivity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Segoe UI"/>
              </a:defRPr>
            </a:pPr>
            <a:r>
              <a:t>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Smart Email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AI email classification, reply suggestions, calendar management, and chat-driven drafting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36576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39" y="3840480"/>
            <a:ext cx="13716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Segoe UI"/>
              </a:defRPr>
            </a:pPr>
            <a:r>
              <a:t>HERA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4480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Project 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49377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Natural language project creation, Kanban board, Gantt timeline, and team capacity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6576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384048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ARGUS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480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Productivity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9377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Automated scoring across 4 metrics, AI recommendations, and transparent performance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5E7EB"/>
                </a:solidFill>
                <a:latin typeface="Segoe UI"/>
              </a:defRPr>
            </a:pPr>
            <a:r>
              <a:t>Each module runs as an independent microservice with its own database</a:t>
            </a:r>
          </a:p>
          <a:p>
            <a:pPr>
              <a:spcAft>
                <a:spcPts val="800"/>
              </a:spcAft>
              <a:defRPr sz="1600">
                <a:solidFill>
                  <a:srgbClr val="E5E7EB"/>
                </a:solidFill>
                <a:latin typeface="Segoe UI"/>
              </a:defRPr>
            </a:pPr>
            <a:r>
              <a:t>Cross-service communication via authenticated REST APIs</a:t>
            </a:r>
          </a:p>
          <a:p>
            <a:pPr>
              <a:spcAft>
                <a:spcPts val="800"/>
              </a:spcAft>
              <a:defRPr sz="1600">
                <a:solidFill>
                  <a:srgbClr val="E5E7EB"/>
                </a:solidFill>
                <a:latin typeface="Segoe UI"/>
              </a:defRPr>
            </a:pPr>
            <a:r>
              <a:t>Shared Celery + Redis worker pipelines for background processing</a:t>
            </a:r>
          </a:p>
          <a:p>
            <a:pPr>
              <a:spcAft>
                <a:spcPts val="800"/>
              </a:spcAft>
              <a:defRPr sz="1600">
                <a:solidFill>
                  <a:srgbClr val="E5E7EB"/>
                </a:solidFill>
                <a:latin typeface="Segoe UI"/>
              </a:defRPr>
            </a:pPr>
            <a:r>
              <a:t>LLM integration (Groq / Llama 3.3 70B) powers AI features across all modules</a:t>
            </a:r>
          </a:p>
          <a:p>
            <a:pPr>
              <a:spcAft>
                <a:spcPts val="800"/>
              </a:spcAft>
              <a:defRPr sz="1600">
                <a:solidFill>
                  <a:srgbClr val="E5E7EB"/>
                </a:solidFill>
                <a:latin typeface="Segoe UI"/>
              </a:defRPr>
            </a:pPr>
            <a:r>
              <a:t>Gmail and Google Calendar APIs provide real-time email and scheduling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502920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0A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Gmail API  •  Calendar API  •  Chat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0175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1A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HERA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Orchestration LLM  •  Task DB  •  Scheduling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3891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0A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ARGUS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Scoring Engine  •  Advice LLM  •  Metrics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88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↑↓  Notifications + Team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↑↓  Metrics Collection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  <a:latin typeface="Segoe UI"/>
              </a:defRPr>
            </a:pPr>
            <a:r>
              <a:t>ECHO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  <a:latin typeface="Segoe UI"/>
              </a:defRPr>
            </a:pPr>
            <a:r>
              <a:t>Smart Email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5E7EB"/>
                </a:solidFill>
                <a:latin typeface="Segoe UI"/>
              </a:defRPr>
            </a:pPr>
            <a:r>
              <a:t>AI-powered email management, reply suggestions, and calendar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ECHO —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Email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Incoming emails are automatically categorized as Work, Personal, Meeting, Newsletter, or Urgent using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AI Reply Suggestions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ECHO drafts personalized replies based on the user’s writing style — users accept, edit, or reject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Chat-Driven Email Drafting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Users ask ECHO to draft emails via chat — recipients are resolved from contacts or HERA project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1089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Calendar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6576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Direct event creation from chat, conflict detection, and automated meeting proposals with confirmation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Cross-Module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035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Task assignments from HERA appear as notifications — deadline reminders trigger automatically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Segoe UI"/>
              </a:defRPr>
            </a:pPr>
            <a:r>
              <a:t>Daily Digest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3035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AI-generated summary of email activity, urgency breakdown, and suggestion acceptance stats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ECHO — 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Google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OAuth authentication grants access to Gmail and Calendar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63439" y="164592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0F1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799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240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6-step walkthrough — fetches and classifies 20 emails on completion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164592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0F1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Summary card, next meeting, email cards with AI suggestions, task cards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0F1A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60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Ask anything — ECHO responds with text, email drafts, or calendar 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931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63439" y="41148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0F1A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799" y="4160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Email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Accept suggestion, write custom reply, or draft from chat and send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931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0" y="41148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0F1A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160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Calendar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091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Create events, detect conflicts, send meeting proposals with auto-confirmation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ECHO —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ec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ECHO — Dashboard, Tasks &amp; Daily Digest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200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ch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4747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Dashboard with summary card and email stats</a:t>
            </a:r>
          </a:p>
        </p:txBody>
      </p:sp>
      <p:pic>
        <p:nvPicPr>
          <p:cNvPr id="6" name="Picture 5" descr="echo_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63040"/>
            <a:ext cx="3474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6263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Tasks tab with HERA-synced task cards</a:t>
            </a:r>
          </a:p>
        </p:txBody>
      </p:sp>
      <p:pic>
        <p:nvPicPr>
          <p:cNvPr id="8" name="Picture 7" descr="echo_dig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463040"/>
            <a:ext cx="347472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6263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AI-generated daily email digest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ECHO — Chat Email Drafting &amp; Sending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200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cho_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4747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AI-drafted email with Send / Alter buttons</a:t>
            </a:r>
          </a:p>
        </p:txBody>
      </p:sp>
      <p:pic>
        <p:nvPicPr>
          <p:cNvPr id="6" name="Picture 5" descr="echo_draft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71600"/>
            <a:ext cx="34747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6446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Draft to project team (resolved via HERA)</a:t>
            </a:r>
          </a:p>
        </p:txBody>
      </p:sp>
      <p:pic>
        <p:nvPicPr>
          <p:cNvPr id="8" name="Picture 7" descr="echo_s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371600"/>
            <a:ext cx="347472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6446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Email sent confirmation via Gmail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8B5CF6"/>
                </a:solidFill>
                <a:latin typeface="Segoe UI"/>
              </a:defRPr>
            </a:pPr>
            <a:r>
              <a:t>HERA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  <a:latin typeface="Segoe UI"/>
              </a:defRPr>
            </a:pPr>
            <a:r>
              <a:t>Project Orchestration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5E7EB"/>
                </a:solidFill>
                <a:latin typeface="Segoe UI"/>
              </a:defRPr>
            </a:pPr>
            <a:r>
              <a:t>Natural language project creation, real-time task tracking, and team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HERA —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AI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Describe a project in plain English or upload documents — HERA generates tasks, assigns team members, and builds a sprint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Kanban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Real-time board with To Do, In Progress, and Done columns — updates every 5 seconds as employees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Gantt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Visual schedule with task bars, dependency tracking, today marker, and overdue/blocked indicators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10896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246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Team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6576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Member cards with workload meters, skill badges, and capacity limits to prevent over-allocation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Employee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035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Employees see only their assigned tasks — start, complete, and track deadlines independently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75488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Cross-Module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3035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Segoe UI"/>
              </a:defRPr>
            </a:pPr>
            <a:r>
              <a:t>Task assignments trigger ECHO notifications — ECHO queries HERA for project team lookups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HERA — Admin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1737360" cy="2560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8288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Segoe UI"/>
              </a:defRPr>
            </a:pPr>
            <a:r>
              <a:t>Manager enters email and password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645920"/>
            <a:ext cx="1737360" cy="2560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80360" y="18288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Orchestrate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926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Segoe UI"/>
              </a:defRPr>
            </a:pPr>
            <a:r>
              <a:t>Describe project or upload docs — AI generates task breakdown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1737360" cy="2560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00600" y="18288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26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Segoe UI"/>
              </a:defRPr>
            </a:pPr>
            <a:r>
              <a:t>Adjust assignments, add/delete tasks, confirm with Start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45920"/>
            <a:ext cx="1737360" cy="2560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20840" y="18288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Segoe UI"/>
              </a:defRPr>
            </a:pPr>
            <a:r>
              <a:t>Real-time Kanban — click any task to edit status, assignee, priority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645920"/>
            <a:ext cx="1737360" cy="2560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41080" y="18288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926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Segoe UI"/>
              </a:defRPr>
            </a:pPr>
            <a:r>
              <a:t>Gantt chart with dependencies, deadlines, and blocked task indicators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1645920"/>
            <a:ext cx="1737360" cy="2560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182880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468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92608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Segoe UI"/>
              </a:defRPr>
            </a:pPr>
            <a:r>
              <a:t>Manage members, skills, and workload capacity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Employee 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983480"/>
            <a:ext cx="16459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5303520"/>
            <a:ext cx="2468880" cy="10972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394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Login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760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Segoe UI"/>
              </a:defRPr>
            </a:pPr>
            <a:r>
              <a:t>Enter email only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5303520"/>
            <a:ext cx="2468880" cy="10972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5394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My Tasks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5760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Segoe UI"/>
              </a:defRPr>
            </a:pPr>
            <a:r>
              <a:t>View assigned tasks with priorities and deadlines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303520"/>
            <a:ext cx="2468880" cy="10972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394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Execute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5760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Segoe UI"/>
              </a:defRPr>
            </a:pPr>
            <a:r>
              <a:t>Start → In Progress → Complete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5303520"/>
            <a:ext cx="2468880" cy="10972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5394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Timeline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5760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E7EB"/>
                </a:solidFill>
                <a:latin typeface="Segoe UI"/>
              </a:defRPr>
            </a:pPr>
            <a:r>
              <a:t>Personal Gantt view of task schedule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HERA —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h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HERA — Orchestrate &amp; 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ra_orchest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97763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AI project generation with team panel</a:t>
            </a:r>
          </a:p>
        </p:txBody>
      </p:sp>
      <p:pic>
        <p:nvPicPr>
          <p:cNvPr id="6" name="Picture 5" descr="hera_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76072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397763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Real-time Kanban board with task cards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HERA — Timeline, Team &amp; Employee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2004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ra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4747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Gantt timeline with dependencies</a:t>
            </a:r>
          </a:p>
        </p:txBody>
      </p:sp>
      <p:pic>
        <p:nvPicPr>
          <p:cNvPr id="6" name="Picture 5" descr="hera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71600"/>
            <a:ext cx="3474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6263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Member cards with workload and skills</a:t>
            </a:r>
          </a:p>
        </p:txBody>
      </p:sp>
      <p:pic>
        <p:nvPicPr>
          <p:cNvPr id="8" name="Picture 7" descr="hera_myt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371600"/>
            <a:ext cx="347472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6263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Employee task view with Start/Done actions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0B981"/>
                </a:solidFill>
                <a:latin typeface="Segoe UI"/>
              </a:defRPr>
            </a:pPr>
            <a: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  <a:latin typeface="Segoe UI"/>
              </a:defRPr>
            </a:pPr>
            <a:r>
              <a:t>Productivity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5E7EB"/>
                </a:solidFill>
                <a:latin typeface="Segoe UI"/>
              </a:defRPr>
            </a:pPr>
            <a:r>
              <a:t>Automated performance scoring, AI recommendations, and transparent metrics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ARGUS — Scoring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Overall Score = Task Completion × 0.40 + Timeliness × 0.25 + Communication × 0.20 + Engagement × 0.15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Task Completion</a:t>
            </a:r>
          </a:p>
        </p:txBody>
      </p:sp>
      <p:sp>
        <p:nvSpPr>
          <p:cNvPr id="8" name="Oval 7"/>
          <p:cNvSpPr/>
          <p:nvPr/>
        </p:nvSpPr>
        <p:spPr>
          <a:xfrm>
            <a:off x="1554480" y="356616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0F1A"/>
                </a:solidFill>
              </a:defRPr>
            </a:pPr>
            <a: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Segoe UI"/>
              </a:defRPr>
            </a:pPr>
            <a:r>
              <a:t>Completion rate + priority-weighted output from HERA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92608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19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Timeliness</a:t>
            </a:r>
          </a:p>
        </p:txBody>
      </p:sp>
      <p:sp>
        <p:nvSpPr>
          <p:cNvPr id="12" name="Oval 11"/>
          <p:cNvSpPr/>
          <p:nvPr/>
        </p:nvSpPr>
        <p:spPr>
          <a:xfrm>
            <a:off x="4343399" y="3566160"/>
            <a:ext cx="914400" cy="914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0F1A"/>
                </a:solidFill>
              </a:defRPr>
            </a:pPr>
            <a: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Segoe UI"/>
              </a:defRPr>
            </a:pPr>
            <a:r>
              <a:t>On-time delivery rate for tasks with deadlines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92608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Communication</a:t>
            </a:r>
          </a:p>
        </p:txBody>
      </p:sp>
      <p:sp>
        <p:nvSpPr>
          <p:cNvPr id="16" name="Oval 15"/>
          <p:cNvSpPr/>
          <p:nvPr/>
        </p:nvSpPr>
        <p:spPr>
          <a:xfrm>
            <a:off x="7132319" y="356616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0F1A"/>
                </a:solidFill>
              </a:defRPr>
            </a:pPr>
            <a: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Segoe UI"/>
              </a:defRPr>
            </a:pPr>
            <a:r>
              <a:t>Email suggestion acceptance rate from ECHO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92608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Engagement</a:t>
            </a:r>
          </a:p>
        </p:txBody>
      </p:sp>
      <p:sp>
        <p:nvSpPr>
          <p:cNvPr id="20" name="Oval 19"/>
          <p:cNvSpPr/>
          <p:nvPr/>
        </p:nvSpPr>
        <p:spPr>
          <a:xfrm>
            <a:off x="9921240" y="356616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0F1A"/>
                </a:solidFill>
              </a:defRPr>
            </a:pPr>
            <a: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Segoe UI"/>
              </a:defRPr>
            </a:pPr>
            <a:r>
              <a:t>Notification read and action rate from ECHO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All data sourced transparently from HERA and ECHO — no subjective factors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ARGUS — Two User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Manager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Four stat cards: employee count, team average, top performer, needs support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Category averages: visual bar charts across all 4 scoring dimensions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Team leaderboard: color-coded scores with trend arrows (improving/declining/stable)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Click any employee to drill into their detail page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Employee detail: score gauge, breakdown bars, AI recommendations, score history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AI advice cards with High / Medium / Low priority levels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Employee — My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Personal score gauge with color-coded performance label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Score breakdown: 4 horizontal bars showing each metric weight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"How is my score calculated?" — expandable formula with full transparency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Data sources clearly labeled: which metric comes from HERA vs ECHO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Dismissible AI recommendations personalized to their weak areas</a:t>
            </a:r>
          </a:p>
          <a:p>
            <a:pPr>
              <a:spcAft>
                <a:spcPts val="8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Score history table to track personal trends over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ARGUS —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ARGUS — Screenshots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gu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57784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Manager dashboard: team stats, leaderboard, AI recommendations</a:t>
            </a:r>
          </a:p>
        </p:txBody>
      </p:sp>
      <p:pic>
        <p:nvPicPr>
          <p:cNvPr id="6" name="Picture 5" descr="argus_my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57784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64465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Employee My Score: gauge, breakdown, and formula transparency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Cross-Module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229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HERA → 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Segoe UI"/>
              </a:defRPr>
            </a:pPr>
            <a:r>
              <a:t>Task assignments in HERA trigger real-time notifications in ECHO for assigned employees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698480" cy="8229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ECHO → HERA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60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Segoe UI"/>
              </a:defRPr>
            </a:pPr>
            <a:r>
              <a:t>ECHO queries HERA to resolve project team members when drafting emails or creating calendar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698480" cy="8229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HERA → ARGUS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566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Segoe UI"/>
              </a:defRPr>
            </a:pPr>
            <a:r>
              <a:t>Task completion rates and deadline adherence feed into ARGUS for productivity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698480" cy="8229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ECHO → ARGUS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572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Segoe UI"/>
              </a:defRPr>
            </a:pPr>
            <a:r>
              <a:t>Suggestion acceptance rates and notification engagement feed into ARGUS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698480" cy="822960"/>
          </a:xfrm>
          <a:prstGeom prst="roundRect">
            <a:avLst>
              <a:gd name="adj" fmla="val 3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ARGUS → Managers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5778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Segoe UI"/>
              </a:defRPr>
            </a:pPr>
            <a:r>
              <a:t>AI-generated insights help managers make informed decisions about task assignments in HERA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057400"/>
            <a:ext cx="16916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FastAPI (Python)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SQLAlchemy + PostgreSQL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Celery + Redis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Async/await throughout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46304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2057400"/>
            <a:ext cx="1691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28600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React 18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Vite build tool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Lucide icons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Custom glassmorphic 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6304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AI /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057400"/>
            <a:ext cx="16916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Groq API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Llama 3.3 70B Versatile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JSON-structured outputs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Temperature-tuned per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46304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2057400"/>
            <a:ext cx="16916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28600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Docker Compose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Microservice architecture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Gmail &amp; Calendar APIs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Segoe UI"/>
              </a:defRPr>
            </a:pPr>
            <a:r>
              <a:t>OAuth 2.0 authentication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CA3AF"/>
                </a:solidFill>
                <a:latin typeface="Segoe UI"/>
              </a:defRPr>
            </a:pPr>
            <a:r>
              <a:t>NORA EOS — ECHO • HERA • ARGUS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Segoe U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